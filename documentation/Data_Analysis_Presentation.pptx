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6824EE2-98C6-0C17-EDDE-0EDF2FD74F0B}">
          <p14:sldIdLst>
            <p14:sldId id="256"/>
            <p14:sldId id="257"/>
            <p14:sldId id="258"/>
            <p14:sldId id="259"/>
            <p14:sldId id="260"/>
          </p14:sldIdLst>
        </p14:section>
        <p14:section name="1. Dataset" id="{6BDCB8AD-9503-6E2E-04C3-7C6B8B0F6342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B2733"/>
                </a:solidFill>
                <a:latin typeface="+mn-lt"/>
              </a:rPr>
              <a:t>Rows at each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7B879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8C-3B42-AB7F-8B758F4CA4AF}"/>
              </c:ext>
            </c:extLst>
          </c:dPt>
          <c:dPt>
            <c:idx val="1"/>
            <c:invertIfNegative val="0"/>
            <c:bubble3D val="0"/>
            <c:spPr>
              <a:solidFill>
                <a:srgbClr val="2A7F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8C-3B42-AB7F-8B758F4CA4AF}"/>
              </c:ext>
            </c:extLst>
          </c:dPt>
          <c:dPt>
            <c:idx val="2"/>
            <c:invertIfNegative val="0"/>
            <c:bubble3D val="0"/>
            <c:spPr>
              <a:solidFill>
                <a:srgbClr val="E871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8C-3B42-AB7F-8B758F4CA4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733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Raw</c:v>
                </c:pt>
                <c:pt idx="1">
                  <c:v>No duplicates</c:v>
                </c:pt>
                <c:pt idx="2">
                  <c:v>Cleaned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112001</c:v>
                </c:pt>
                <c:pt idx="1">
                  <c:v>108539</c:v>
                </c:pt>
                <c:pt idx="2">
                  <c:v>102777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C8C-3B42-AB7F-8B758F4CA4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268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64008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1463040"/>
            <a:ext cx="4754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3017520"/>
            <a:ext cx="4389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100" b="1" kern="0" spc="3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Sensor Data Cleaning &amp; Analysis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640080" y="457200"/>
            <a:ext cx="5486400" cy="319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79" y="776840"/>
            <a:ext cx="4892041" cy="15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/>
              <a:t>Predictive Maintenance and Failure Prediction for Industrial Machinery</a:t>
            </a:r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94360" y="2788920"/>
            <a:ext cx="4097956" cy="403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Ball-bearing, humidity and vibration readings: from raw data to insight</a:t>
            </a:r>
          </a:p>
          <a:p>
            <a:pPr marL="0" indent="0" algn="l">
              <a:buNone/>
            </a:pPr>
            <a:endParaRPr lang="en-US" dirty="0">
              <a:latin typeface="ACADEMY ENGRAVED LET PLAIN:1.0" panose="02000000000000000000" pitchFamily="2" charset="0"/>
            </a:endParaRPr>
          </a:p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5" name="Bearing ring 1"/>
          <p:cNvSpPr/>
          <p:nvPr/>
        </p:nvSpPr>
        <p:spPr>
          <a:xfrm>
            <a:off x="5623560" y="868680"/>
            <a:ext cx="3383280" cy="338328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6" name="Bearing ring 2"/>
          <p:cNvSpPr/>
          <p:nvPr/>
        </p:nvSpPr>
        <p:spPr>
          <a:xfrm>
            <a:off x="6080760" y="1325880"/>
            <a:ext cx="2468880" cy="246888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2"/>
            </a:solidFill>
            <a:prstDash val="solid"/>
          </a:ln>
        </p:spPr>
      </p:sp>
      <p:sp>
        <p:nvSpPr>
          <p:cNvPr id="7" name="Bearing ring 3"/>
          <p:cNvSpPr/>
          <p:nvPr/>
        </p:nvSpPr>
        <p:spPr>
          <a:xfrm>
            <a:off x="6537960" y="1783080"/>
            <a:ext cx="1554480" cy="15544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8" name="Bearing core"/>
          <p:cNvSpPr/>
          <p:nvPr/>
        </p:nvSpPr>
        <p:spPr>
          <a:xfrm>
            <a:off x="7086600" y="233172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F83EB3-AAC8-05A0-B21F-BD0AC46BCA93}"/>
              </a:ext>
            </a:extLst>
          </p:cNvPr>
          <p:cNvSpPr txBox="1"/>
          <p:nvPr/>
        </p:nvSpPr>
        <p:spPr>
          <a:xfrm>
            <a:off x="3777916" y="3337560"/>
            <a:ext cx="27600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BRITNEY SPIERCE G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ID:AF05310565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AIML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Code: ANP-D7444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Industry Introduction</a:t>
            </a:r>
            <a:endParaRPr lang="en-US" sz="3000" dirty="0"/>
          </a:p>
        </p:txBody>
      </p:sp>
      <p:sp>
        <p:nvSpPr>
          <p:cNvPr id="4" name="Icon circle"/>
          <p:cNvSpPr/>
          <p:nvPr/>
        </p:nvSpPr>
        <p:spPr>
          <a:xfrm>
            <a:off x="548640" y="14173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aIndust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5603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Factories rely on sensors to watch machines continuously, so wear and faults are caught before they cause a breakdown.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This project works with three such signals.</a:t>
            </a:r>
            <a:endParaRPr lang="en-US" sz="1400" dirty="0"/>
          </a:p>
        </p:txBody>
      </p:sp>
      <p:sp>
        <p:nvSpPr>
          <p:cNvPr id="8" name="Signal card 1"/>
          <p:cNvSpPr/>
          <p:nvPr/>
        </p:nvSpPr>
        <p:spPr>
          <a:xfrm>
            <a:off x="4754880" y="141732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493776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FaCo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52704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Ball-bearing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Rotating part whose condition drives machine health</a:t>
            </a:r>
            <a:endParaRPr lang="en-US" sz="1400" dirty="0"/>
          </a:p>
        </p:txBody>
      </p:sp>
      <p:sp>
        <p:nvSpPr>
          <p:cNvPr id="12" name="Signal card 2"/>
          <p:cNvSpPr/>
          <p:nvPr/>
        </p:nvSpPr>
        <p:spPr>
          <a:xfrm>
            <a:off x="4754880" y="251460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Icon circle"/>
          <p:cNvSpPr/>
          <p:nvPr/>
        </p:nvSpPr>
        <p:spPr>
          <a:xfrm>
            <a:off x="4937760" y="2697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2" descr="FaTi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28346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669280" y="26243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Humidity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Environmental factor that can affect equipment</a:t>
            </a:r>
            <a:endParaRPr lang="en-US" sz="1400" dirty="0"/>
          </a:p>
        </p:txBody>
      </p:sp>
      <p:sp>
        <p:nvSpPr>
          <p:cNvPr id="16" name="Signal card 3"/>
          <p:cNvSpPr/>
          <p:nvPr/>
        </p:nvSpPr>
        <p:spPr>
          <a:xfrm>
            <a:off x="4754880" y="3611880"/>
            <a:ext cx="38404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7" name="Icon circle"/>
          <p:cNvSpPr/>
          <p:nvPr/>
        </p:nvSpPr>
        <p:spPr>
          <a:xfrm>
            <a:off x="4937760" y="37947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3" descr="FaWaveSquar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669280" y="372160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Vibration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Common early signal of wear or imbalance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4" name="Problem card"/>
          <p:cNvSpPr/>
          <p:nvPr/>
        </p:nvSpPr>
        <p:spPr>
          <a:xfrm>
            <a:off x="548640" y="1417320"/>
            <a:ext cx="420624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Raw sensor logs contain duplicate rows and non-numeric entries, so they cannot be analysed directly. The data must be cleaned and validated before any link between ball-bearing, humidity and vibration can be trusted.</a:t>
            </a:r>
            <a:endParaRPr lang="en-US" sz="1800" dirty="0"/>
          </a:p>
        </p:txBody>
      </p:sp>
      <p:sp>
        <p:nvSpPr>
          <p:cNvPr id="6" name="Stat card 1"/>
          <p:cNvSpPr/>
          <p:nvPr/>
        </p:nvSpPr>
        <p:spPr>
          <a:xfrm>
            <a:off x="5029200" y="141732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212080" y="14173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3,462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1417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 rows</a:t>
            </a:r>
            <a:endParaRPr lang="en-US" sz="1400" dirty="0"/>
          </a:p>
        </p:txBody>
      </p:sp>
      <p:sp>
        <p:nvSpPr>
          <p:cNvPr id="9" name="Stat card 2"/>
          <p:cNvSpPr/>
          <p:nvPr/>
        </p:nvSpPr>
        <p:spPr>
          <a:xfrm>
            <a:off x="5029200" y="251460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12080" y="25146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5,776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514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entries that were not numeric</a:t>
            </a:r>
            <a:endParaRPr lang="en-US" sz="1400" dirty="0"/>
          </a:p>
        </p:txBody>
      </p:sp>
      <p:sp>
        <p:nvSpPr>
          <p:cNvPr id="12" name="Stat card 3"/>
          <p:cNvSpPr/>
          <p:nvPr/>
        </p:nvSpPr>
        <p:spPr>
          <a:xfrm>
            <a:off x="5029200" y="3611880"/>
            <a:ext cx="35661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0" y="3611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2 of 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6118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columns loaded as text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Objectives and Proposed Solution</a:t>
            </a:r>
            <a:endParaRPr lang="en-US" sz="3000" dirty="0"/>
          </a:p>
        </p:txBody>
      </p:sp>
      <p:sp>
        <p:nvSpPr>
          <p:cNvPr id="4" name="Objectives card"/>
          <p:cNvSpPr/>
          <p:nvPr/>
        </p:nvSpPr>
        <p:spPr>
          <a:xfrm>
            <a:off x="548640" y="1417320"/>
            <a:ext cx="3931920" cy="31089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 duplicate rows and invalid entries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Convert every sensor column to numeric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Study the trend and spread of each sensor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Measure how the three variables relate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Proposed solution</a:t>
            </a:r>
            <a:endParaRPr lang="en-US" sz="2000" dirty="0"/>
          </a:p>
        </p:txBody>
      </p:sp>
      <p:sp>
        <p:nvSpPr>
          <p:cNvPr id="8" name="Step circle 1"/>
          <p:cNvSpPr/>
          <p:nvPr/>
        </p:nvSpPr>
        <p:spPr>
          <a:xfrm>
            <a:off x="4754880" y="1965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Load and inspect the raw CSV</a:t>
            </a:r>
            <a:endParaRPr lang="en-US" sz="1400" dirty="0"/>
          </a:p>
        </p:txBody>
      </p:sp>
      <p:sp>
        <p:nvSpPr>
          <p:cNvPr id="11" name="Step circle 2"/>
          <p:cNvSpPr/>
          <p:nvPr/>
        </p:nvSpPr>
        <p:spPr>
          <a:xfrm>
            <a:off x="475488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Clean: remove duplicates and invalid values</a:t>
            </a:r>
            <a:endParaRPr lang="en-US" sz="1400" dirty="0"/>
          </a:p>
        </p:txBody>
      </p:sp>
      <p:sp>
        <p:nvSpPr>
          <p:cNvPr id="14" name="Step circle 3"/>
          <p:cNvSpPr/>
          <p:nvPr/>
        </p:nvSpPr>
        <p:spPr>
          <a:xfrm>
            <a:off x="475488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Visualise trends, distributions and scatter plots</a:t>
            </a:r>
            <a:endParaRPr lang="en-US" sz="1400" dirty="0"/>
          </a:p>
        </p:txBody>
      </p:sp>
      <p:sp>
        <p:nvSpPr>
          <p:cNvPr id="17" name="Step circle 4"/>
          <p:cNvSpPr/>
          <p:nvPr/>
        </p:nvSpPr>
        <p:spPr>
          <a:xfrm>
            <a:off x="4754880" y="3886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Correlate the three sensors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INTRODUCTION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Tools and Technologies Used</a:t>
            </a:r>
            <a:endParaRPr lang="en-US" sz="3000" dirty="0"/>
          </a:p>
        </p:txBody>
      </p:sp>
      <p:sp>
        <p:nvSpPr>
          <p:cNvPr id="4" name="Tool card 1"/>
          <p:cNvSpPr/>
          <p:nvPr/>
        </p:nvSpPr>
        <p:spPr>
          <a:xfrm>
            <a:off x="548640" y="1463040"/>
            <a:ext cx="1828800" cy="3108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3152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Pyth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91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Core language for the whole analysis</a:t>
            </a:r>
            <a:endParaRPr lang="en-US" sz="1400" dirty="0"/>
          </a:p>
        </p:txBody>
      </p:sp>
      <p:sp>
        <p:nvSpPr>
          <p:cNvPr id="9" name="Tool card 2"/>
          <p:cNvSpPr/>
          <p:nvPr/>
        </p:nvSpPr>
        <p:spPr>
          <a:xfrm>
            <a:off x="2624328" y="1463040"/>
            <a:ext cx="1828800" cy="3108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2807208" y="1691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FaTab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088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07208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Pandas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807208" y="3291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Loading, cleaning and type conversion</a:t>
            </a:r>
            <a:endParaRPr lang="en-US" sz="1400" dirty="0"/>
          </a:p>
        </p:txBody>
      </p:sp>
      <p:sp>
        <p:nvSpPr>
          <p:cNvPr id="14" name="Tool card 3"/>
          <p:cNvSpPr/>
          <p:nvPr/>
        </p:nvSpPr>
        <p:spPr>
          <a:xfrm>
            <a:off x="4700016" y="1463040"/>
            <a:ext cx="1828800" cy="3108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Icon circle"/>
          <p:cNvSpPr/>
          <p:nvPr/>
        </p:nvSpPr>
        <p:spPr>
          <a:xfrm>
            <a:off x="4882896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ChartB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1874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82896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Matplotlib &amp; Seaborn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82896" y="3291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Trend, distribution and correlation plots</a:t>
            </a:r>
            <a:endParaRPr lang="en-US" sz="1400" dirty="0"/>
          </a:p>
        </p:txBody>
      </p:sp>
      <p:sp>
        <p:nvSpPr>
          <p:cNvPr id="19" name="Tool card 4"/>
          <p:cNvSpPr/>
          <p:nvPr/>
        </p:nvSpPr>
        <p:spPr>
          <a:xfrm>
            <a:off x="6775704" y="1463040"/>
            <a:ext cx="1828800" cy="3108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Icon circle"/>
          <p:cNvSpPr/>
          <p:nvPr/>
        </p:nvSpPr>
        <p:spPr>
          <a:xfrm>
            <a:off x="6958584" y="1691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3" descr="FaBoo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18745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58584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Jupyter Notebook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958584" y="3291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Interactive environment for code and outputs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 · DATASET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Source</a:t>
            </a:r>
            <a:endParaRPr lang="en-US" sz="3000" dirty="0"/>
          </a:p>
        </p:txBody>
      </p:sp>
      <p:sp>
        <p:nvSpPr>
          <p:cNvPr id="4" name="File card"/>
          <p:cNvSpPr/>
          <p:nvPr/>
        </p:nvSpPr>
        <p:spPr>
          <a:xfrm>
            <a:off x="548640" y="1417320"/>
            <a:ext cx="3291840" cy="310896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5" name="Icon circle"/>
          <p:cNvSpPr/>
          <p:nvPr/>
        </p:nvSpPr>
        <p:spPr>
          <a:xfrm>
            <a:off x="822960" y="169164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FileCsv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659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raw_dataset.csv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Semicolon-delimited CSV file</a:t>
            </a:r>
            <a:endParaRPr lang="en-US" sz="1400" dirty="0"/>
          </a:p>
        </p:txBody>
      </p:sp>
      <p:sp>
        <p:nvSpPr>
          <p:cNvPr id="9" name="Icon circle"/>
          <p:cNvSpPr/>
          <p:nvPr/>
        </p:nvSpPr>
        <p:spPr>
          <a:xfrm>
            <a:off x="4206240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FaDatab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17145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74920" y="14173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Size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112,001 records and 3 columns, about 2.6 MB in memory</a:t>
            </a:r>
            <a:endParaRPr lang="en-US" sz="1400" dirty="0"/>
          </a:p>
        </p:txBody>
      </p:sp>
      <p:sp>
        <p:nvSpPr>
          <p:cNvPr id="12" name="Icon circle"/>
          <p:cNvSpPr/>
          <p:nvPr/>
        </p:nvSpPr>
        <p:spPr>
          <a:xfrm>
            <a:off x="4206240" y="2651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FaMicrochi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281178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74920" y="2514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Content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Machine sensor readings logged in sequence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4206240" y="3749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FaCod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260" y="39090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074920" y="36118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Loading</a:t>
            </a:r>
            <a:endParaRPr lang="en-US" sz="14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Read with pandas using a ";" separator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 · DATASET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Details</a:t>
            </a:r>
            <a:endParaRPr lang="en-US" sz="3000" dirty="0"/>
          </a:p>
        </p:txBody>
      </p:sp>
      <p:sp>
        <p:nvSpPr>
          <p:cNvPr id="4" name="Stat card 1"/>
          <p:cNvSpPr/>
          <p:nvPr/>
        </p:nvSpPr>
        <p:spPr>
          <a:xfrm>
            <a:off x="548640" y="1417320"/>
            <a:ext cx="24963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112,001  </a:t>
            </a:r>
            <a:r>
              <a:rPr lang="en-US" sz="1400" dirty="0">
                <a:solidFill>
                  <a:schemeClr val="tx1"/>
                </a:solidFill>
              </a:rPr>
              <a:t>raw rows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319272" y="1417320"/>
            <a:ext cx="24963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02152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3  </a:t>
            </a:r>
            <a:r>
              <a:rPr lang="en-US" sz="1400" dirty="0">
                <a:solidFill>
                  <a:schemeClr val="tx1"/>
                </a:solidFill>
              </a:rPr>
              <a:t>sensor columns</a:t>
            </a:r>
            <a:endParaRPr lang="en-US" sz="1400" dirty="0"/>
          </a:p>
        </p:txBody>
      </p:sp>
      <p:sp>
        <p:nvSpPr>
          <p:cNvPr id="8" name="Stat card 3"/>
          <p:cNvSpPr/>
          <p:nvPr/>
        </p:nvSpPr>
        <p:spPr>
          <a:xfrm>
            <a:off x="6089904" y="1417320"/>
            <a:ext cx="2496312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72784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102,777  </a:t>
            </a:r>
            <a:r>
              <a:rPr lang="en-US" sz="1400" dirty="0">
                <a:solidFill>
                  <a:schemeClr val="tx1"/>
                </a:solidFill>
              </a:rPr>
              <a:t>rows after cleaning</a:t>
            </a:r>
            <a:endParaRPr lang="en-US" sz="1400" dirty="0"/>
          </a:p>
        </p:txBody>
      </p:sp>
      <p:graphicFrame>
        <p:nvGraphicFramePr>
          <p:cNvPr id="10" name="Column summar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8046720" cy="153619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 (raw → clean)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Max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ball-bearing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 → float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16.933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45.714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93.744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humidity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float → float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72.399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74.205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75.400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vibration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text → float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2.000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28.913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99.995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Summary statistics from the cleaned dataset (102,777 rows).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1 · DATASET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Errors and Issues in the Raw Dataset</a:t>
            </a:r>
            <a:endParaRPr lang="en-US" sz="3000" dirty="0"/>
          </a:p>
        </p:txBody>
      </p:sp>
      <p:sp>
        <p:nvSpPr>
          <p:cNvPr id="4" name="Issue card 1"/>
          <p:cNvSpPr/>
          <p:nvPr/>
        </p:nvSpPr>
        <p:spPr>
          <a:xfrm>
            <a:off x="548640" y="141732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Cl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49047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Duplicate rows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3,462 repeated rows were removed</a:t>
            </a:r>
            <a:endParaRPr lang="en-US" sz="1400" dirty="0"/>
          </a:p>
        </p:txBody>
      </p:sp>
      <p:sp>
        <p:nvSpPr>
          <p:cNvPr id="8" name="Issue card 2"/>
          <p:cNvSpPr/>
          <p:nvPr/>
        </p:nvSpPr>
        <p:spPr>
          <a:xfrm>
            <a:off x="548640" y="251460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731520" y="2697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FaFo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346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58775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Numbers stored as text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535 ball-bearing and 5,241 vibration entries were not numeric</a:t>
            </a:r>
            <a:endParaRPr lang="en-US" sz="1400" dirty="0"/>
          </a:p>
        </p:txBody>
      </p:sp>
      <p:sp>
        <p:nvSpPr>
          <p:cNvPr id="12" name="Issue card 3"/>
          <p:cNvSpPr/>
          <p:nvPr/>
        </p:nvSpPr>
        <p:spPr>
          <a:xfrm>
            <a:off x="548640" y="3611880"/>
            <a:ext cx="4206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Icon circle"/>
          <p:cNvSpPr/>
          <p:nvPr/>
        </p:nvSpPr>
        <p:spPr>
          <a:xfrm>
            <a:off x="731520" y="3794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FaTrashA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3685032"/>
            <a:ext cx="3200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Invalid rows dropped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5,762 rows removed after conversion to numeric</a:t>
            </a:r>
            <a:endParaRPr lang="en-US" sz="14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0" y="1325880"/>
          <a:ext cx="35661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502920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4"/>
                </a:solidFill>
              </a:rPr>
              <a:t>8.2% of rows removed in total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sor Steel">
  <a:themeElements>
    <a:clrScheme name="Sensor Steel">
      <a:dk1>
        <a:srgbClr val="1B2733"/>
      </a:dk1>
      <a:lt1>
        <a:srgbClr val="FFFFFF"/>
      </a:lt1>
      <a:dk2>
        <a:srgbClr val="3E4C59"/>
      </a:dk2>
      <a:lt2>
        <a:srgbClr val="EEF1F4"/>
      </a:lt2>
      <a:accent1>
        <a:srgbClr val="E8710A"/>
      </a:accent1>
      <a:accent2>
        <a:srgbClr val="2A7F9E"/>
      </a:accent2>
      <a:accent3>
        <a:srgbClr val="7B8794"/>
      </a:accent3>
      <a:accent4>
        <a:srgbClr val="C25B00"/>
      </a:accent4>
      <a:accent5>
        <a:srgbClr val="1F6580"/>
      </a:accent5>
      <a:accent6>
        <a:srgbClr val="52606D"/>
      </a:accent6>
      <a:hlink>
        <a:srgbClr val="2A7F9E"/>
      </a:hlink>
      <a:folHlink>
        <a:srgbClr val="7B8794"/>
      </a:folHlink>
    </a:clrScheme>
    <a:fontScheme name="Sensor Stee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406</Words>
  <Application>Microsoft Macintosh PowerPoint</Application>
  <PresentationFormat>On-screen Show (16:9)</PresentationFormat>
  <Paragraphs>113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ACADEMY ENGRAVED LET PLAIN:1.0</vt:lpstr>
      <vt:lpstr>Arial</vt:lpstr>
      <vt:lpstr>Calibri</vt:lpstr>
      <vt:lpstr>Times New Roman</vt:lpstr>
      <vt:lpstr>Sensor Steel</vt:lpstr>
      <vt:lpstr>Predictive Maintenance and Failure Prediction for Industrial Machinery</vt:lpstr>
      <vt:lpstr>Industry Introduction</vt:lpstr>
      <vt:lpstr>Problem Statement</vt:lpstr>
      <vt:lpstr>Objectives and Proposed Solution</vt:lpstr>
      <vt:lpstr>Tools and Technologies Used</vt:lpstr>
      <vt:lpstr>Dataset Source</vt:lpstr>
      <vt:lpstr>Dataset Details</vt:lpstr>
      <vt:lpstr>Errors and Issues in the Raw Dataset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Data Cleaning &amp; Analysis</dc:title>
  <dc:subject>PptxGenJS Presentation</dc:subject>
  <dc:creator>PptxGenJS</dc:creator>
  <cp:lastModifiedBy>Britney Spierce</cp:lastModifiedBy>
  <cp:revision>2</cp:revision>
  <dcterms:created xsi:type="dcterms:W3CDTF">2026-10-13T08:52:18Z</dcterms:created>
  <dcterms:modified xsi:type="dcterms:W3CDTF">2026-10-13T09:06:02Z</dcterms:modified>
</cp:coreProperties>
</file>