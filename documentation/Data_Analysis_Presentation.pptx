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2AB54D9-D6AE-4841-AE54-20A9609733F8}">
          <p14:sldIdLst>
            <p14:sldId id="256"/>
            <p14:sldId id="257"/>
            <p14:sldId id="258"/>
            <p14:sldId id="259"/>
            <p14:sldId id="260"/>
          </p14:sldIdLst>
        </p14:section>
        <p14:section name="1. Dataset" id="{8A428E25-756A-0977-4556-9C1BC9D3C5D1}">
          <p14:sldIdLst>
            <p14:sldId id="261"/>
            <p14:sldId id="262"/>
            <p14:sldId id="263"/>
          </p14:sldIdLst>
        </p14:section>
        <p14:section name="2. Cleaning and Analysis" id="{E1FCC9BA-5CEF-CA12-E34F-D67EC91E1726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733"/>
                </a:solidFill>
                <a:latin typeface="+mn-lt"/>
              </a:rPr>
              <a:t>Rows at each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7B879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102-A747-898A-721CF71AFCFB}"/>
              </c:ext>
            </c:extLst>
          </c:dPt>
          <c:dPt>
            <c:idx val="1"/>
            <c:invertIfNegative val="0"/>
            <c:bubble3D val="0"/>
            <c:spPr>
              <a:solidFill>
                <a:srgbClr val="2A7F9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102-A747-898A-721CF71AFCFB}"/>
              </c:ext>
            </c:extLst>
          </c:dPt>
          <c:dPt>
            <c:idx val="2"/>
            <c:invertIfNegative val="0"/>
            <c:bubble3D val="0"/>
            <c:spPr>
              <a:solidFill>
                <a:srgbClr val="E8710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102-A747-898A-721CF71AFCF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733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Raw</c:v>
                </c:pt>
                <c:pt idx="1">
                  <c:v>No duplicates</c:v>
                </c:pt>
                <c:pt idx="2">
                  <c:v>Cleaned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112001</c:v>
                </c:pt>
                <c:pt idx="1">
                  <c:v>108539</c:v>
                </c:pt>
                <c:pt idx="2">
                  <c:v>102777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102-A747-898A-721CF71AFCF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07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40080" y="10972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3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1463040"/>
            <a:ext cx="47548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3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Sensor Data Cleaning &amp; Analysis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640080" y="232611"/>
            <a:ext cx="5486400" cy="256673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489284"/>
            <a:ext cx="4754880" cy="2345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/>
              <a:t>Predictive Maintenance and Failure Prediction for Industrial Machinery</a:t>
            </a:r>
            <a:endParaRPr lang="en-US" sz="3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2788920"/>
            <a:ext cx="4389120" cy="628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</a:rPr>
              <a:t>Ball-bearing, humidity and vibration readings: from raw data to insight</a:t>
            </a:r>
            <a:endParaRPr lang="en-US" sz="1600" dirty="0"/>
          </a:p>
        </p:txBody>
      </p:sp>
      <p:sp>
        <p:nvSpPr>
          <p:cNvPr id="5" name="Bearing ring 1"/>
          <p:cNvSpPr/>
          <p:nvPr/>
        </p:nvSpPr>
        <p:spPr>
          <a:xfrm>
            <a:off x="5623560" y="868680"/>
            <a:ext cx="3383280" cy="3383280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accent6"/>
            </a:solidFill>
            <a:prstDash val="solid"/>
          </a:ln>
        </p:spPr>
      </p:sp>
      <p:sp>
        <p:nvSpPr>
          <p:cNvPr id="6" name="Bearing ring 2"/>
          <p:cNvSpPr/>
          <p:nvPr/>
        </p:nvSpPr>
        <p:spPr>
          <a:xfrm>
            <a:off x="6080760" y="1325880"/>
            <a:ext cx="2468880" cy="2468880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7" name="Bearing ring 3"/>
          <p:cNvSpPr/>
          <p:nvPr/>
        </p:nvSpPr>
        <p:spPr>
          <a:xfrm>
            <a:off x="6537960" y="1783080"/>
            <a:ext cx="1554480" cy="15544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" name="Bearing core"/>
          <p:cNvSpPr/>
          <p:nvPr/>
        </p:nvSpPr>
        <p:spPr>
          <a:xfrm>
            <a:off x="7086600" y="233172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DFA9B7-4B86-EFFF-1124-5423EA93A7DA}"/>
              </a:ext>
            </a:extLst>
          </p:cNvPr>
          <p:cNvSpPr txBox="1"/>
          <p:nvPr/>
        </p:nvSpPr>
        <p:spPr>
          <a:xfrm>
            <a:off x="3874168" y="3416968"/>
            <a:ext cx="2590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BRITNEY SPIERCE G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 ID:AF05310565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Course: AIML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Code: ANP-D7444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INTRODUCTION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Industry Introduction</a:t>
            </a:r>
            <a:endParaRPr lang="en-US" sz="3000" dirty="0"/>
          </a:p>
        </p:txBody>
      </p:sp>
      <p:sp>
        <p:nvSpPr>
          <p:cNvPr id="4" name="Icon circle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FaIndus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459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5603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Factories rely on sensors to watch machines continuously, so wear and faults are caught before they cause a breakdown.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This project works with three such signals.</a:t>
            </a:r>
            <a:endParaRPr lang="en-US" sz="1400" dirty="0"/>
          </a:p>
        </p:txBody>
      </p:sp>
      <p:sp>
        <p:nvSpPr>
          <p:cNvPr id="8" name="Signal card 1"/>
          <p:cNvSpPr/>
          <p:nvPr/>
        </p:nvSpPr>
        <p:spPr>
          <a:xfrm>
            <a:off x="4754880" y="1417320"/>
            <a:ext cx="3840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4937760" y="16002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Co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27048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Ball-bearing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Rotating part whose condition drives machine health</a:t>
            </a:r>
            <a:endParaRPr lang="en-US" sz="1400" dirty="0"/>
          </a:p>
        </p:txBody>
      </p:sp>
      <p:sp>
        <p:nvSpPr>
          <p:cNvPr id="12" name="Signal card 2"/>
          <p:cNvSpPr/>
          <p:nvPr/>
        </p:nvSpPr>
        <p:spPr>
          <a:xfrm>
            <a:off x="4754880" y="2514600"/>
            <a:ext cx="3840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Icon circle"/>
          <p:cNvSpPr/>
          <p:nvPr/>
        </p:nvSpPr>
        <p:spPr>
          <a:xfrm>
            <a:off x="4937760" y="2697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2" descr="FaTin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8346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669280" y="2624328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Humidity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Environmental factor that can affect equipment</a:t>
            </a:r>
            <a:endParaRPr lang="en-US" sz="1400" dirty="0"/>
          </a:p>
        </p:txBody>
      </p:sp>
      <p:sp>
        <p:nvSpPr>
          <p:cNvPr id="16" name="Signal card 3"/>
          <p:cNvSpPr/>
          <p:nvPr/>
        </p:nvSpPr>
        <p:spPr>
          <a:xfrm>
            <a:off x="4754880" y="3611880"/>
            <a:ext cx="3840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Icon circle"/>
          <p:cNvSpPr/>
          <p:nvPr/>
        </p:nvSpPr>
        <p:spPr>
          <a:xfrm>
            <a:off x="4937760" y="37947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3" descr="FaWaveSqua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93192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669280" y="3721608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Vibration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Common early signal of wear or imbalance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INTRODUCTION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Problem Statement</a:t>
            </a:r>
            <a:endParaRPr lang="en-US" sz="3000" dirty="0"/>
          </a:p>
        </p:txBody>
      </p:sp>
      <p:sp>
        <p:nvSpPr>
          <p:cNvPr id="4" name="Problem card"/>
          <p:cNvSpPr/>
          <p:nvPr/>
        </p:nvSpPr>
        <p:spPr>
          <a:xfrm>
            <a:off x="548640" y="1417320"/>
            <a:ext cx="4206240" cy="310896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Raw sensor logs contain duplicate rows and non-numeric entries, so they cannot be analysed directly. The data must be cleaned and validated before any link between ball-bearing, humidity and vibration can be trusted.</a:t>
            </a:r>
            <a:endParaRPr lang="en-US" sz="1800" dirty="0"/>
          </a:p>
        </p:txBody>
      </p:sp>
      <p:sp>
        <p:nvSpPr>
          <p:cNvPr id="6" name="Stat card 1"/>
          <p:cNvSpPr/>
          <p:nvPr/>
        </p:nvSpPr>
        <p:spPr>
          <a:xfrm>
            <a:off x="5029200" y="141732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212080" y="1417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3,462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1417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duplicate rows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5029200" y="251460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212080" y="25146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5,776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514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entries that were not numeric</a:t>
            </a:r>
            <a:endParaRPr lang="en-US" sz="1400" dirty="0"/>
          </a:p>
        </p:txBody>
      </p:sp>
      <p:sp>
        <p:nvSpPr>
          <p:cNvPr id="12" name="Stat card 3"/>
          <p:cNvSpPr/>
          <p:nvPr/>
        </p:nvSpPr>
        <p:spPr>
          <a:xfrm>
            <a:off x="5029200" y="36118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36118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2 of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11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columns loaded as text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INTRODUCTION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Objectives and Proposed Solution</a:t>
            </a:r>
            <a:endParaRPr lang="en-US" sz="3000" dirty="0"/>
          </a:p>
        </p:txBody>
      </p:sp>
      <p:sp>
        <p:nvSpPr>
          <p:cNvPr id="4" name="Objectives card"/>
          <p:cNvSpPr/>
          <p:nvPr/>
        </p:nvSpPr>
        <p:spPr>
          <a:xfrm>
            <a:off x="548640" y="141732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Objectives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Remove duplicate rows and invalid entries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Convert every sensor column to numeric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Study the trend and spread of each sensor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Measure how the three variables relate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Proposed solution</a:t>
            </a:r>
            <a:endParaRPr lang="en-US" sz="2000" dirty="0"/>
          </a:p>
        </p:txBody>
      </p:sp>
      <p:sp>
        <p:nvSpPr>
          <p:cNvPr id="8" name="Step circle 1"/>
          <p:cNvSpPr/>
          <p:nvPr/>
        </p:nvSpPr>
        <p:spPr>
          <a:xfrm>
            <a:off x="4754880" y="1965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548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920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Load and inspect the raw CSV</a:t>
            </a:r>
            <a:endParaRPr lang="en-US" sz="1400" dirty="0"/>
          </a:p>
        </p:txBody>
      </p:sp>
      <p:sp>
        <p:nvSpPr>
          <p:cNvPr id="11" name="Step circle 2"/>
          <p:cNvSpPr/>
          <p:nvPr/>
        </p:nvSpPr>
        <p:spPr>
          <a:xfrm>
            <a:off x="4754880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2560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Clean: remove duplicates and invalid values</a:t>
            </a:r>
            <a:endParaRPr lang="en-US" sz="1400" dirty="0"/>
          </a:p>
        </p:txBody>
      </p:sp>
      <p:sp>
        <p:nvSpPr>
          <p:cNvPr id="14" name="Step circle 3"/>
          <p:cNvSpPr/>
          <p:nvPr/>
        </p:nvSpPr>
        <p:spPr>
          <a:xfrm>
            <a:off x="4754880" y="32461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5488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Visualise trends, distributions and scatter plots</a:t>
            </a:r>
            <a:endParaRPr lang="en-US" sz="1400" dirty="0"/>
          </a:p>
        </p:txBody>
      </p:sp>
      <p:sp>
        <p:nvSpPr>
          <p:cNvPr id="17" name="Step circle 4"/>
          <p:cNvSpPr/>
          <p:nvPr/>
        </p:nvSpPr>
        <p:spPr>
          <a:xfrm>
            <a:off x="4754880" y="3886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Correlate the three sensors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INTRODUCTION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Tools and Technologies Used</a:t>
            </a:r>
            <a:endParaRPr lang="en-US" sz="3000" dirty="0"/>
          </a:p>
        </p:txBody>
      </p:sp>
      <p:sp>
        <p:nvSpPr>
          <p:cNvPr id="4" name="Tool card 1"/>
          <p:cNvSpPr/>
          <p:nvPr/>
        </p:nvSpPr>
        <p:spPr>
          <a:xfrm>
            <a:off x="548640" y="1463040"/>
            <a:ext cx="1828800" cy="310896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73152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Pyth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6974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91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Core language for the whole analysis</a:t>
            </a:r>
            <a:endParaRPr lang="en-US" sz="1400" dirty="0"/>
          </a:p>
        </p:txBody>
      </p:sp>
      <p:sp>
        <p:nvSpPr>
          <p:cNvPr id="9" name="Tool card 2"/>
          <p:cNvSpPr/>
          <p:nvPr/>
        </p:nvSpPr>
        <p:spPr>
          <a:xfrm>
            <a:off x="2624328" y="1463040"/>
            <a:ext cx="1828800" cy="310896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0" name="Icon circle"/>
          <p:cNvSpPr/>
          <p:nvPr/>
        </p:nvSpPr>
        <p:spPr>
          <a:xfrm>
            <a:off x="2807208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FaTa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18745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07208" y="26974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Pandas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807208" y="3291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Loading, cleaning and type conversion</a:t>
            </a:r>
            <a:endParaRPr lang="en-US" sz="1400" dirty="0"/>
          </a:p>
        </p:txBody>
      </p:sp>
      <p:sp>
        <p:nvSpPr>
          <p:cNvPr id="14" name="Tool card 3"/>
          <p:cNvSpPr/>
          <p:nvPr/>
        </p:nvSpPr>
        <p:spPr>
          <a:xfrm>
            <a:off x="4700016" y="1463040"/>
            <a:ext cx="1828800" cy="310896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5" name="Icon circle"/>
          <p:cNvSpPr/>
          <p:nvPr/>
        </p:nvSpPr>
        <p:spPr>
          <a:xfrm>
            <a:off x="4882896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ChartB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6" y="18745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82896" y="26974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Matplotlib &amp; Seaborn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882896" y="3291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Trend, distribution and correlation plots</a:t>
            </a:r>
            <a:endParaRPr lang="en-US" sz="1400" dirty="0"/>
          </a:p>
        </p:txBody>
      </p:sp>
      <p:sp>
        <p:nvSpPr>
          <p:cNvPr id="19" name="Tool card 4"/>
          <p:cNvSpPr/>
          <p:nvPr/>
        </p:nvSpPr>
        <p:spPr>
          <a:xfrm>
            <a:off x="6775704" y="1463040"/>
            <a:ext cx="1828800" cy="310896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20" name="Icon circle"/>
          <p:cNvSpPr/>
          <p:nvPr/>
        </p:nvSpPr>
        <p:spPr>
          <a:xfrm>
            <a:off x="6958584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FaBoo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18745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58584" y="26974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Jupyter Notebook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958584" y="3291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Interactive environment for code and outputs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1 · DATASET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Dataset Source</a:t>
            </a:r>
            <a:endParaRPr lang="en-US" sz="3000" dirty="0"/>
          </a:p>
        </p:txBody>
      </p:sp>
      <p:sp>
        <p:nvSpPr>
          <p:cNvPr id="4" name="File card"/>
          <p:cNvSpPr/>
          <p:nvPr/>
        </p:nvSpPr>
        <p:spPr>
          <a:xfrm>
            <a:off x="548640" y="1417320"/>
            <a:ext cx="3291840" cy="310896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5" name="Icon circle"/>
          <p:cNvSpPr/>
          <p:nvPr/>
        </p:nvSpPr>
        <p:spPr>
          <a:xfrm>
            <a:off x="82296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FileCs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6596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raw_dataset.csv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Semicolon-delimited CSV file</a:t>
            </a:r>
            <a:endParaRPr lang="en-US" sz="1400" dirty="0"/>
          </a:p>
        </p:txBody>
      </p:sp>
      <p:sp>
        <p:nvSpPr>
          <p:cNvPr id="9" name="Icon circle"/>
          <p:cNvSpPr/>
          <p:nvPr/>
        </p:nvSpPr>
        <p:spPr>
          <a:xfrm>
            <a:off x="4206240" y="1554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Databa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260" y="17145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74920" y="14173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Size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112,001 records and 3 columns, about 2.6 MB in memory</a:t>
            </a:r>
            <a:endParaRPr lang="en-US" sz="1400" dirty="0"/>
          </a:p>
        </p:txBody>
      </p:sp>
      <p:sp>
        <p:nvSpPr>
          <p:cNvPr id="12" name="Icon circle"/>
          <p:cNvSpPr/>
          <p:nvPr/>
        </p:nvSpPr>
        <p:spPr>
          <a:xfrm>
            <a:off x="4206240" y="26517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Image 2" descr="FaMicrochi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6260" y="281178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74920" y="251460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Content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Machine sensor readings logged in sequence</a:t>
            </a:r>
            <a:endParaRPr lang="en-US" sz="1400" dirty="0"/>
          </a:p>
        </p:txBody>
      </p:sp>
      <p:sp>
        <p:nvSpPr>
          <p:cNvPr id="15" name="Icon circle"/>
          <p:cNvSpPr/>
          <p:nvPr/>
        </p:nvSpPr>
        <p:spPr>
          <a:xfrm>
            <a:off x="4206240" y="37490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3" descr="FaCod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6260" y="39090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074920" y="3611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Loading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Read with pandas using a ";" separator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1 · DATASET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Dataset Details</a:t>
            </a:r>
            <a:endParaRPr lang="en-US" sz="3000" dirty="0"/>
          </a:p>
        </p:txBody>
      </p:sp>
      <p:sp>
        <p:nvSpPr>
          <p:cNvPr id="4" name="Stat card 1"/>
          <p:cNvSpPr/>
          <p:nvPr/>
        </p:nvSpPr>
        <p:spPr>
          <a:xfrm>
            <a:off x="548640" y="1417320"/>
            <a:ext cx="249631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112,001  </a:t>
            </a:r>
            <a:r>
              <a:rPr lang="en-US" sz="1400" dirty="0">
                <a:solidFill>
                  <a:schemeClr val="tx1"/>
                </a:solidFill>
              </a:rPr>
              <a:t>raw rows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319272" y="1417320"/>
            <a:ext cx="249631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02152" y="1417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3  </a:t>
            </a:r>
            <a:r>
              <a:rPr lang="en-US" sz="1400" dirty="0">
                <a:solidFill>
                  <a:schemeClr val="tx1"/>
                </a:solidFill>
              </a:rPr>
              <a:t>sensor columns</a:t>
            </a:r>
            <a:endParaRPr lang="en-US" sz="1400" dirty="0"/>
          </a:p>
        </p:txBody>
      </p:sp>
      <p:sp>
        <p:nvSpPr>
          <p:cNvPr id="8" name="Stat card 3"/>
          <p:cNvSpPr/>
          <p:nvPr/>
        </p:nvSpPr>
        <p:spPr>
          <a:xfrm>
            <a:off x="6089904" y="1417320"/>
            <a:ext cx="249631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72784" y="1417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102,777  </a:t>
            </a:r>
            <a:r>
              <a:rPr lang="en-US" sz="1400" dirty="0">
                <a:solidFill>
                  <a:schemeClr val="tx1"/>
                </a:solidFill>
              </a:rPr>
              <a:t>rows after cleaning</a:t>
            </a:r>
            <a:endParaRPr lang="en-US" sz="1400" dirty="0"/>
          </a:p>
        </p:txBody>
      </p:sp>
      <p:graphicFrame>
        <p:nvGraphicFramePr>
          <p:cNvPr id="10" name="Column 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Column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Type (raw → clean)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ball-bearing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 → float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16.933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45.714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93.744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humidity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float → float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72.399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74.205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75.400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vibration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 → float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2.000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28.913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99.995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8640" y="4251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Summary statistics from the cleaned dataset (102,777 rows).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1 · DATASET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Errors and Issues in the Raw Dataset</a:t>
            </a:r>
            <a:endParaRPr lang="en-US" sz="3000" dirty="0"/>
          </a:p>
        </p:txBody>
      </p:sp>
      <p:sp>
        <p:nvSpPr>
          <p:cNvPr id="4" name="Issue card 1"/>
          <p:cNvSpPr/>
          <p:nvPr/>
        </p:nvSpPr>
        <p:spPr>
          <a:xfrm>
            <a:off x="548640" y="1417320"/>
            <a:ext cx="4206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Clo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373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49047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Duplicate rows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3,462 repeated rows were removed</a:t>
            </a:r>
            <a:endParaRPr lang="en-US" sz="1400" dirty="0"/>
          </a:p>
        </p:txBody>
      </p:sp>
      <p:sp>
        <p:nvSpPr>
          <p:cNvPr id="8" name="Issue card 2"/>
          <p:cNvSpPr/>
          <p:nvPr/>
        </p:nvSpPr>
        <p:spPr>
          <a:xfrm>
            <a:off x="548640" y="2514600"/>
            <a:ext cx="4206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731520" y="2697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FaFo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8346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58775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Numbers stored as text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535 ball-bearing and 5,241 vibration entries were not numeric</a:t>
            </a:r>
            <a:endParaRPr lang="en-US" sz="1400" dirty="0"/>
          </a:p>
        </p:txBody>
      </p:sp>
      <p:sp>
        <p:nvSpPr>
          <p:cNvPr id="12" name="Issue card 3"/>
          <p:cNvSpPr/>
          <p:nvPr/>
        </p:nvSpPr>
        <p:spPr>
          <a:xfrm>
            <a:off x="548640" y="3611880"/>
            <a:ext cx="4206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Icon circle"/>
          <p:cNvSpPr/>
          <p:nvPr/>
        </p:nvSpPr>
        <p:spPr>
          <a:xfrm>
            <a:off x="731520" y="3794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FaTrashAl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319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368503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Invalid rows dropped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5,762 rows removed after conversion to numeric</a:t>
            </a:r>
            <a:endParaRPr lang="en-US" sz="14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029200" y="1325880"/>
          <a:ext cx="35661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" name="Text 11"/>
          <p:cNvSpPr txBox="1"/>
          <p:nvPr/>
        </p:nvSpPr>
        <p:spPr>
          <a:xfrm>
            <a:off x="502920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8.2% of rows removed in total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2 · CLEANING &amp; ANALYSIS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Cleaning and Transformation</a:t>
            </a:r>
            <a:endParaRPr lang="en-US" sz="3000" dirty="0"/>
          </a:p>
        </p:txBody>
      </p:sp>
      <p:sp>
        <p:nvSpPr>
          <p:cNvPr id="4" name="Cleaning step 1"/>
          <p:cNvSpPr/>
          <p:nvPr/>
        </p:nvSpPr>
        <p:spPr>
          <a:xfrm>
            <a:off x="548640" y="1417320"/>
            <a:ext cx="8046720" cy="704088"/>
          </a:xfrm>
          <a:prstGeom prst="roundRect">
            <a:avLst>
              <a:gd name="adj" fmla="val 10390"/>
            </a:avLst>
          </a:prstGeom>
          <a:solidFill>
            <a:schemeClr val="bg2"/>
          </a:solidFill>
          <a:ln/>
        </p:spPr>
      </p:sp>
      <p:sp>
        <p:nvSpPr>
          <p:cNvPr id="5" name="Step circle 1"/>
          <p:cNvSpPr/>
          <p:nvPr/>
        </p:nvSpPr>
        <p:spPr>
          <a:xfrm>
            <a:off x="731520" y="15453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45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417320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Remove duplicates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drop_duplicates() applied to the raw rows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417320"/>
            <a:ext cx="2103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112,001 → 108,539</a:t>
            </a:r>
            <a:endParaRPr lang="en-US" sz="1400" dirty="0"/>
          </a:p>
        </p:txBody>
      </p:sp>
      <p:sp>
        <p:nvSpPr>
          <p:cNvPr id="9" name="Cleaning step 2"/>
          <p:cNvSpPr/>
          <p:nvPr/>
        </p:nvSpPr>
        <p:spPr>
          <a:xfrm>
            <a:off x="548640" y="2212848"/>
            <a:ext cx="8046720" cy="704088"/>
          </a:xfrm>
          <a:prstGeom prst="roundRect">
            <a:avLst>
              <a:gd name="adj" fmla="val 10390"/>
            </a:avLst>
          </a:prstGeom>
          <a:solidFill>
            <a:schemeClr val="bg2"/>
          </a:solidFill>
          <a:ln/>
        </p:spPr>
      </p:sp>
      <p:sp>
        <p:nvSpPr>
          <p:cNvPr id="10" name="Step circle 2"/>
          <p:cNvSpPr/>
          <p:nvPr/>
        </p:nvSpPr>
        <p:spPr>
          <a:xfrm>
            <a:off x="731520" y="23408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340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12848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Convert to numeric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Text columns converted to float; invalid values become NaN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12848"/>
            <a:ext cx="2103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3 float columns</a:t>
            </a:r>
            <a:endParaRPr lang="en-US" sz="1400" dirty="0"/>
          </a:p>
        </p:txBody>
      </p:sp>
      <p:sp>
        <p:nvSpPr>
          <p:cNvPr id="14" name="Cleaning step 3"/>
          <p:cNvSpPr/>
          <p:nvPr/>
        </p:nvSpPr>
        <p:spPr>
          <a:xfrm>
            <a:off x="548640" y="3008376"/>
            <a:ext cx="8046720" cy="704088"/>
          </a:xfrm>
          <a:prstGeom prst="roundRect">
            <a:avLst>
              <a:gd name="adj" fmla="val 10390"/>
            </a:avLst>
          </a:prstGeom>
          <a:solidFill>
            <a:schemeClr val="bg2"/>
          </a:solidFill>
          <a:ln/>
        </p:spPr>
      </p:sp>
      <p:sp>
        <p:nvSpPr>
          <p:cNvPr id="15" name="Step circle 3"/>
          <p:cNvSpPr/>
          <p:nvPr/>
        </p:nvSpPr>
        <p:spPr>
          <a:xfrm>
            <a:off x="731520" y="31363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008376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Drop invalid rows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dropna() removes rows where conversion failed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08376"/>
            <a:ext cx="2103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108,539 → 102,777</a:t>
            </a:r>
            <a:endParaRPr lang="en-US" sz="1400" dirty="0"/>
          </a:p>
        </p:txBody>
      </p:sp>
      <p:sp>
        <p:nvSpPr>
          <p:cNvPr id="19" name="Cleaning step 4"/>
          <p:cNvSpPr/>
          <p:nvPr/>
        </p:nvSpPr>
        <p:spPr>
          <a:xfrm>
            <a:off x="548640" y="3803904"/>
            <a:ext cx="8046720" cy="704088"/>
          </a:xfrm>
          <a:prstGeom prst="roundRect">
            <a:avLst>
              <a:gd name="adj" fmla="val 10390"/>
            </a:avLst>
          </a:prstGeom>
          <a:solidFill>
            <a:schemeClr val="bg2"/>
          </a:solidFill>
          <a:ln/>
        </p:spPr>
      </p:sp>
      <p:sp>
        <p:nvSpPr>
          <p:cNvPr id="20" name="Step circle 4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803904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Save cleaned data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Exported as cleaned_dataset.csv for analysis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803904"/>
            <a:ext cx="2103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 nulls, 0 duplicates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2 · CLEANING &amp; ANALYSIS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Analysis</a:t>
            </a:r>
            <a:endParaRPr lang="en-US" sz="3000" dirty="0"/>
          </a:p>
        </p:txBody>
      </p:sp>
      <p:sp>
        <p:nvSpPr>
          <p:cNvPr id="4" name="Icon circle"/>
          <p:cNvSpPr/>
          <p:nvPr/>
        </p:nvSpPr>
        <p:spPr>
          <a:xfrm>
            <a:off x="548640" y="1508760"/>
            <a:ext cx="521208" cy="52120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FaChartB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" y="1639062"/>
            <a:ext cx="260604" cy="2606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17320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Distribution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Histograms show each sensor's spread</a:t>
            </a:r>
            <a:endParaRPr lang="en-US" sz="1400" dirty="0"/>
          </a:p>
        </p:txBody>
      </p:sp>
      <p:sp>
        <p:nvSpPr>
          <p:cNvPr id="7" name="Icon circle"/>
          <p:cNvSpPr/>
          <p:nvPr/>
        </p:nvSpPr>
        <p:spPr>
          <a:xfrm>
            <a:off x="548640" y="2304288"/>
            <a:ext cx="521208" cy="52120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1" descr="FaChartLi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42" y="2434590"/>
            <a:ext cx="260604" cy="2606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12848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Trend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Readings plotted across observations</a:t>
            </a:r>
            <a:endParaRPr lang="en-US" sz="1400" dirty="0"/>
          </a:p>
        </p:txBody>
      </p:sp>
      <p:sp>
        <p:nvSpPr>
          <p:cNvPr id="10" name="Icon circle"/>
          <p:cNvSpPr/>
          <p:nvPr/>
        </p:nvSpPr>
        <p:spPr>
          <a:xfrm>
            <a:off x="548640" y="3099816"/>
            <a:ext cx="521208" cy="52120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2" descr="FaLayerGrou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" y="3230118"/>
            <a:ext cx="260604" cy="2606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3008376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Category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Low, medium and high level counts</a:t>
            </a:r>
            <a:endParaRPr lang="en-US" sz="1400" dirty="0"/>
          </a:p>
        </p:txBody>
      </p:sp>
      <p:sp>
        <p:nvSpPr>
          <p:cNvPr id="13" name="Icon circle"/>
          <p:cNvSpPr/>
          <p:nvPr/>
        </p:nvSpPr>
        <p:spPr>
          <a:xfrm>
            <a:off x="548640" y="3895344"/>
            <a:ext cx="521208" cy="52120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3" descr="FaProjectDi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942" y="4025646"/>
            <a:ext cx="260604" cy="26060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80160" y="3803904"/>
            <a:ext cx="3474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Correlation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Pairwise links between the sensors</a:t>
            </a:r>
            <a:endParaRPr lang="en-US" sz="1400" dirty="0"/>
          </a:p>
        </p:txBody>
      </p:sp>
      <p:sp>
        <p:nvSpPr>
          <p:cNvPr id="16" name="Heatmap card"/>
          <p:cNvSpPr/>
          <p:nvPr/>
        </p:nvSpPr>
        <p:spPr>
          <a:xfrm>
            <a:off x="5029200" y="1417320"/>
            <a:ext cx="35661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pic>
        <p:nvPicPr>
          <p:cNvPr id="17" name="Image 4" descr="Correlation heatmap of the three sensor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1508760"/>
            <a:ext cx="3383280" cy="26379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20640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Correlation matrix of the cleaned data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2 · CLEANING &amp; ANALYSIS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Visualization: Sensor Trends</a:t>
            </a:r>
            <a:endParaRPr lang="en-US" sz="3000" dirty="0"/>
          </a:p>
        </p:txBody>
      </p:sp>
      <p:sp>
        <p:nvSpPr>
          <p:cNvPr id="4" name="Trend card 1"/>
          <p:cNvSpPr/>
          <p:nvPr/>
        </p:nvSpPr>
        <p:spPr>
          <a:xfrm>
            <a:off x="54864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pic>
        <p:nvPicPr>
          <p:cNvPr id="5" name="Image 0" descr="Ball-bearing trend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2377440" cy="13242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Ball-bearing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29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Declines steadily from about 94 to about 20</a:t>
            </a:r>
            <a:endParaRPr lang="en-US" sz="1400" dirty="0"/>
          </a:p>
        </p:txBody>
      </p:sp>
      <p:sp>
        <p:nvSpPr>
          <p:cNvPr id="8" name="Trend card 2"/>
          <p:cNvSpPr/>
          <p:nvPr/>
        </p:nvSpPr>
        <p:spPr>
          <a:xfrm>
            <a:off x="329184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pic>
        <p:nvPicPr>
          <p:cNvPr id="9" name="Image 1" descr="Humidity trend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554480"/>
            <a:ext cx="2377440" cy="13041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7472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Humidity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474720" y="3429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Stays in a narrow band of about 72.4 to 75.4</a:t>
            </a:r>
            <a:endParaRPr lang="en-US" sz="1400" dirty="0"/>
          </a:p>
        </p:txBody>
      </p:sp>
      <p:sp>
        <p:nvSpPr>
          <p:cNvPr id="12" name="Trend card 3"/>
          <p:cNvSpPr/>
          <p:nvPr/>
        </p:nvSpPr>
        <p:spPr>
          <a:xfrm>
            <a:off x="6035040" y="141732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pic>
        <p:nvPicPr>
          <p:cNvPr id="13" name="Image 2" descr="Vibration trend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554480"/>
            <a:ext cx="2377440" cy="131024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1792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Vibration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217920" y="34290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Mostly low, with sharp bursts up to about 100 later 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2 · CLEANING &amp; ANALYSIS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Visualization: Relationships</a:t>
            </a:r>
            <a:endParaRPr lang="en-US" sz="3000" dirty="0"/>
          </a:p>
        </p:txBody>
      </p:sp>
      <p:sp>
        <p:nvSpPr>
          <p:cNvPr id="4" name="Scatter card 1"/>
          <p:cNvSpPr/>
          <p:nvPr/>
        </p:nvSpPr>
        <p:spPr>
          <a:xfrm>
            <a:off x="548640" y="141732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pic>
        <p:nvPicPr>
          <p:cNvPr id="5" name="Image 0" descr="Scatter plot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4480"/>
            <a:ext cx="3383280" cy="22798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Ball-bearing vs vibration: clustered bands, no single straight-line pattern</a:t>
            </a:r>
            <a:endParaRPr lang="en-US" sz="1400" dirty="0"/>
          </a:p>
        </p:txBody>
      </p:sp>
      <p:sp>
        <p:nvSpPr>
          <p:cNvPr id="7" name="Scatter card 2"/>
          <p:cNvSpPr/>
          <p:nvPr/>
        </p:nvSpPr>
        <p:spPr>
          <a:xfrm>
            <a:off x="4663440" y="141732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pic>
        <p:nvPicPr>
          <p:cNvPr id="8" name="Image 1" descr="Scatter plot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554480"/>
            <a:ext cx="3383280" cy="22603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Humidity vs vibration: widest spread, yet the link is still weak (0.16)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1"/>
                </a:solidFill>
              </a:rPr>
              <a:t>2 · CLEANING &amp; ANALYSIS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Key Insights and Findings</a:t>
            </a:r>
            <a:endParaRPr lang="en-US" sz="3000" dirty="0"/>
          </a:p>
        </p:txBody>
      </p:sp>
      <p:sp>
        <p:nvSpPr>
          <p:cNvPr id="4" name="Insight card 1"/>
          <p:cNvSpPr/>
          <p:nvPr/>
        </p:nvSpPr>
        <p:spPr>
          <a:xfrm>
            <a:off x="548640" y="1417320"/>
            <a:ext cx="3931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731520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ArrowDo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01952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0876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Ball-bearing falls steadily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From about 94 to about 20 across the observations</a:t>
            </a:r>
            <a:endParaRPr lang="en-US" sz="1400" dirty="0"/>
          </a:p>
        </p:txBody>
      </p:sp>
      <p:sp>
        <p:nvSpPr>
          <p:cNvPr id="8" name="Insight card 2"/>
          <p:cNvSpPr/>
          <p:nvPr/>
        </p:nvSpPr>
        <p:spPr>
          <a:xfrm>
            <a:off x="4663440" y="1417320"/>
            <a:ext cx="3931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4846320" y="176479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Ti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90195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50876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Humidity is stable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Held within 72.4 to 75.4, standard deviation 0.69</a:t>
            </a:r>
            <a:endParaRPr lang="en-US" sz="1400" dirty="0"/>
          </a:p>
        </p:txBody>
      </p:sp>
      <p:sp>
        <p:nvSpPr>
          <p:cNvPr id="12" name="Insight card 3"/>
          <p:cNvSpPr/>
          <p:nvPr/>
        </p:nvSpPr>
        <p:spPr>
          <a:xfrm>
            <a:off x="548640" y="2834640"/>
            <a:ext cx="3931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Icon circle"/>
          <p:cNvSpPr/>
          <p:nvPr/>
        </p:nvSpPr>
        <p:spPr>
          <a:xfrm>
            <a:off x="731520" y="31821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FaBol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31927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292608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Vibration is bursty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Mean 28.9 sits above median 21.5, with spikes near 100</a:t>
            </a:r>
            <a:endParaRPr lang="en-US" sz="1400" dirty="0"/>
          </a:p>
        </p:txBody>
      </p:sp>
      <p:sp>
        <p:nvSpPr>
          <p:cNvPr id="16" name="Insight card 4"/>
          <p:cNvSpPr/>
          <p:nvPr/>
        </p:nvSpPr>
        <p:spPr>
          <a:xfrm>
            <a:off x="4663440" y="2834640"/>
            <a:ext cx="3931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7" name="Icon circle"/>
          <p:cNvSpPr/>
          <p:nvPr/>
        </p:nvSpPr>
        <p:spPr>
          <a:xfrm>
            <a:off x="4846320" y="318211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3" descr="FaBalanceSca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31927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577840" y="292608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Linear links are weak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Correlations range from -0.13 to 0.16 only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No single sensor explains vibration on its own, so deeper modelling would be the next step.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nsor Steel">
  <a:themeElements>
    <a:clrScheme name="Sensor Steel">
      <a:dk1>
        <a:srgbClr val="1B2733"/>
      </a:dk1>
      <a:lt1>
        <a:srgbClr val="FFFFFF"/>
      </a:lt1>
      <a:dk2>
        <a:srgbClr val="3E4C59"/>
      </a:dk2>
      <a:lt2>
        <a:srgbClr val="EEF1F4"/>
      </a:lt2>
      <a:accent1>
        <a:srgbClr val="E8710A"/>
      </a:accent1>
      <a:accent2>
        <a:srgbClr val="2A7F9E"/>
      </a:accent2>
      <a:accent3>
        <a:srgbClr val="7B8794"/>
      </a:accent3>
      <a:accent4>
        <a:srgbClr val="C25B00"/>
      </a:accent4>
      <a:accent5>
        <a:srgbClr val="1F6580"/>
      </a:accent5>
      <a:accent6>
        <a:srgbClr val="52606D"/>
      </a:accent6>
      <a:hlink>
        <a:srgbClr val="2A7F9E"/>
      </a:hlink>
      <a:folHlink>
        <a:srgbClr val="7B8794"/>
      </a:folHlink>
    </a:clrScheme>
    <a:fontScheme name="Sensor Stee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683</Words>
  <Application>Microsoft Macintosh PowerPoint</Application>
  <PresentationFormat>On-screen Show (16:9)</PresentationFormat>
  <Paragraphs>175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Sensor Steel</vt:lpstr>
      <vt:lpstr>Predictive Maintenance and Failure Prediction for Industrial Machinery</vt:lpstr>
      <vt:lpstr>Industry Introduction</vt:lpstr>
      <vt:lpstr>Problem Statement</vt:lpstr>
      <vt:lpstr>Objectives and Proposed Solution</vt:lpstr>
      <vt:lpstr>Tools and Technologies Used</vt:lpstr>
      <vt:lpstr>Dataset Source</vt:lpstr>
      <vt:lpstr>Dataset Details</vt:lpstr>
      <vt:lpstr>Errors and Issues in the Raw Dataset</vt:lpstr>
      <vt:lpstr>Data Cleaning and Transformation</vt:lpstr>
      <vt:lpstr>Data Analysis</vt:lpstr>
      <vt:lpstr>Data Visualization: Sensor Trends</vt:lpstr>
      <vt:lpstr>Data Visualization: Relationships</vt:lpstr>
      <vt:lpstr>Key Insights and Findings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 Data Cleaning &amp; Analysis</dc:title>
  <dc:subject>PptxGenJS Presentation</dc:subject>
  <dc:creator>PptxGenJS</dc:creator>
  <cp:lastModifiedBy>Britney Spierce</cp:lastModifiedBy>
  <cp:revision>2</cp:revision>
  <dcterms:created xsi:type="dcterms:W3CDTF">2026-10-13T09:43:29Z</dcterms:created>
  <dcterms:modified xsi:type="dcterms:W3CDTF">2026-10-13T09:50:06Z</dcterms:modified>
</cp:coreProperties>
</file>